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598BA1-FCEC-4A34-A5C8-4A1380CB4FAF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A3D7D-C095-4B63-92D4-967B53293F3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A3D7D-C095-4B63-92D4-967B53293F38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FABA-3344-4BEC-8941-AF8D241939F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F845-1270-42BF-8BBE-6205F4E9E43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FABA-3344-4BEC-8941-AF8D241939F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F845-1270-42BF-8BBE-6205F4E9E43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FABA-3344-4BEC-8941-AF8D241939F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F845-1270-42BF-8BBE-6205F4E9E43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FABA-3344-4BEC-8941-AF8D241939F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F845-1270-42BF-8BBE-6205F4E9E43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FABA-3344-4BEC-8941-AF8D241939F4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F845-1270-42BF-8BBE-6205F4E9E43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FABA-3344-4BEC-8941-AF8D241939F4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F845-1270-42BF-8BBE-6205F4E9E43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FABA-3344-4BEC-8941-AF8D241939F4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F845-1270-42BF-8BBE-6205F4E9E43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FABA-3344-4BEC-8941-AF8D241939F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F845-1270-42BF-8BBE-6205F4E9E43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FABA-3344-4BEC-8941-AF8D241939F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F845-1270-42BF-8BBE-6205F4E9E43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FABA-3344-4BEC-8941-AF8D241939F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F845-1270-42BF-8BBE-6205F4E9E43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FABA-3344-4BEC-8941-AF8D241939F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F845-1270-42BF-8BBE-6205F4E9E43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3FABA-3344-4BEC-8941-AF8D241939F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3F845-1270-42BF-8BBE-6205F4E9E43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/>
          <p:cNvSpPr/>
          <p:nvPr/>
        </p:nvSpPr>
        <p:spPr>
          <a:xfrm>
            <a:off x="0" y="0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/>
        </p:nvSpPr>
        <p:spPr>
          <a:xfrm rot="10800000">
            <a:off x="6007510" y="3527324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Half Frame 9"/>
          <p:cNvSpPr/>
          <p:nvPr/>
        </p:nvSpPr>
        <p:spPr>
          <a:xfrm rot="5400000">
            <a:off x="7431344" y="-1240093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 rot="16200000">
            <a:off x="1291095" y="2059856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852" y="1500042"/>
            <a:ext cx="112677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Title: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Data Analysis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Subtitle: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Trends, Seasonality &amp; Product Performance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0665" y="4422775"/>
            <a:ext cx="34112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Randhir Thakur</a:t>
            </a:r>
            <a:endParaRPr lang="en-I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No:- 23CSA2BC172 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065279" y="5001584"/>
            <a:ext cx="2589777" cy="1319436"/>
            <a:chOff x="9065279" y="4989310"/>
            <a:chExt cx="2589777" cy="1319436"/>
          </a:xfrm>
        </p:grpSpPr>
        <p:sp>
          <p:nvSpPr>
            <p:cNvPr id="7" name="Rectangle: Rounded Corners 6"/>
            <p:cNvSpPr/>
            <p:nvPr/>
          </p:nvSpPr>
          <p:spPr>
            <a:xfrm>
              <a:off x="9065279" y="4989310"/>
              <a:ext cx="2589777" cy="1319436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26" name="image1.png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9542" y="5082658"/>
              <a:ext cx="2381250" cy="1157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Text Box 3"/>
          <p:cNvSpPr txBox="1"/>
          <p:nvPr/>
        </p:nvSpPr>
        <p:spPr>
          <a:xfrm>
            <a:off x="5422265" y="4726940"/>
            <a:ext cx="2517140" cy="1322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b="1">
                <a:solidFill>
                  <a:srgbClr val="FF0000"/>
                </a:solidFill>
              </a:rPr>
              <a:t>Submitted To:</a:t>
            </a:r>
            <a:endParaRPr lang="en-IN" altLang="en-US" b="1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sym typeface="+mn-ea"/>
              </a:rPr>
              <a:t>Dr. Rakesh Sharma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sym typeface="+mn-ea"/>
              </a:rPr>
              <a:t>Head of the Department, CSA</a:t>
            </a:r>
            <a:endParaRPr lang="en-IN" dirty="0">
              <a:solidFill>
                <a:schemeClr val="bg1"/>
              </a:solidFill>
            </a:endParaRPr>
          </a:p>
          <a:p>
            <a:endParaRPr lang="en-IN" altLang="en-US">
              <a:solidFill>
                <a:srgbClr val="FF0000"/>
              </a:solidFill>
            </a:endParaRPr>
          </a:p>
          <a:p>
            <a:endParaRPr lang="en-I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/>
          <p:cNvSpPr/>
          <p:nvPr/>
        </p:nvSpPr>
        <p:spPr>
          <a:xfrm>
            <a:off x="0" y="0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/>
        </p:nvSpPr>
        <p:spPr>
          <a:xfrm rot="10800000">
            <a:off x="6007510" y="3527324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Half Frame 9"/>
          <p:cNvSpPr/>
          <p:nvPr/>
        </p:nvSpPr>
        <p:spPr>
          <a:xfrm rot="5400000">
            <a:off x="7431344" y="-1240093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 rot="16200000">
            <a:off x="1291095" y="2059856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74840" y="309546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  <a:endParaRPr lang="en-I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417869" y="1199536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85187" y="2091559"/>
            <a:ext cx="89209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data to identify overall trends.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seasonal effects (monthly, quarterly, weekday patterns).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 of different products and categories.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business insights.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7703" y="1669301"/>
            <a:ext cx="36367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2.OBJECTIVE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/>
          <p:cNvSpPr/>
          <p:nvPr/>
        </p:nvSpPr>
        <p:spPr>
          <a:xfrm>
            <a:off x="0" y="0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/>
        </p:nvSpPr>
        <p:spPr>
          <a:xfrm rot="10800000">
            <a:off x="6007510" y="3527324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Half Frame 9"/>
          <p:cNvSpPr/>
          <p:nvPr/>
        </p:nvSpPr>
        <p:spPr>
          <a:xfrm rot="5400000">
            <a:off x="7431344" y="-1240093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 rot="16200000">
            <a:off x="1291095" y="2059856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9355" y="1763662"/>
            <a:ext cx="4070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3.Dataset Overview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9357" y="2510561"/>
            <a:ext cx="99649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Kaggle Superstore Dataset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9,994 transactions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Order Date, Sales, Product Name, Category, Sub‑Category, Profit, etc.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Period: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2015 – 2017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/>
          <p:cNvSpPr/>
          <p:nvPr/>
        </p:nvSpPr>
        <p:spPr>
          <a:xfrm>
            <a:off x="0" y="0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/>
        </p:nvSpPr>
        <p:spPr>
          <a:xfrm rot="10800000">
            <a:off x="6007510" y="3527324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Half Frame 9"/>
          <p:cNvSpPr/>
          <p:nvPr/>
        </p:nvSpPr>
        <p:spPr>
          <a:xfrm rot="5400000">
            <a:off x="7431344" y="-1240093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 rot="16200000">
            <a:off x="1291095" y="2059856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74840" y="309546"/>
            <a:ext cx="9952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5912" y="1816732"/>
            <a:ext cx="5034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Methodology &amp; Tools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5914" y="2580566"/>
            <a:ext cx="101997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Python (Pandas, Matplotlib, Seaborn), Jupyter Notebook, Excel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data and clean (fix column names, convert dates)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date features (Year, Month, Quarter, Weekday)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trends and seasonality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product performance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 key results to Excel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Half Frame 5"/>
          <p:cNvSpPr/>
          <p:nvPr/>
        </p:nvSpPr>
        <p:spPr>
          <a:xfrm>
            <a:off x="0" y="0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/>
        </p:nvSpPr>
        <p:spPr>
          <a:xfrm rot="10800000">
            <a:off x="6007510" y="3527324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Half Frame 9"/>
          <p:cNvSpPr/>
          <p:nvPr/>
        </p:nvSpPr>
        <p:spPr>
          <a:xfrm rot="5400000">
            <a:off x="7431344" y="-1240093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 rot="16200000">
            <a:off x="1291095" y="2059856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7869" y="1627862"/>
            <a:ext cx="4166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5.Overall Sales Trend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0142" y="2317014"/>
            <a:ext cx="59091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Sales Trend Over Time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show a steady upward trend from 2015 to 2017.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Noticeable peaks in November and December (holiday season).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 business is growing year‑over‑year, with seasonal spikes.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097" y="1500042"/>
            <a:ext cx="5131134" cy="48417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/>
          <p:cNvSpPr/>
          <p:nvPr/>
        </p:nvSpPr>
        <p:spPr>
          <a:xfrm>
            <a:off x="0" y="0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/>
        </p:nvSpPr>
        <p:spPr>
          <a:xfrm rot="10800000">
            <a:off x="6007510" y="3527324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Half Frame 9"/>
          <p:cNvSpPr/>
          <p:nvPr/>
        </p:nvSpPr>
        <p:spPr>
          <a:xfrm rot="5400000">
            <a:off x="7431344" y="-1240093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 rot="16200000">
            <a:off x="1291095" y="2059856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417869" y="1199536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01562" y="1327356"/>
            <a:ext cx="57813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6.Seasonal Effects: Monthly &amp; Quarterly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1614" y="2227181"/>
            <a:ext cx="525199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Monthly &amp; Quarterly Seasonality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average sales in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December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Q4 (Oct–Dec)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contributes the most revenue.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Focus resources on Q4; consider promotions in slower months (Jan, Feb).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098" y="1256085"/>
            <a:ext cx="6081954" cy="26928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098" y="3948888"/>
            <a:ext cx="6081954" cy="25995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/>
          <p:cNvSpPr/>
          <p:nvPr/>
        </p:nvSpPr>
        <p:spPr>
          <a:xfrm>
            <a:off x="0" y="0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/>
        </p:nvSpPr>
        <p:spPr>
          <a:xfrm rot="10800000">
            <a:off x="6007510" y="3527324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Half Frame 9"/>
          <p:cNvSpPr/>
          <p:nvPr/>
        </p:nvSpPr>
        <p:spPr>
          <a:xfrm rot="5400000">
            <a:off x="7431344" y="-1240093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 rot="16200000">
            <a:off x="1291095" y="2059856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97424" y="1627862"/>
            <a:ext cx="600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7.Seasonal Effects: Weekday Analysis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6693" y="2399073"/>
            <a:ext cx="51226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Sales by Weekday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are relatively consistent across weekdays.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Slight peaks on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No extreme weekday fluctuations; marketing campaigns can be evenly distributed.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205" y="1327355"/>
            <a:ext cx="6028414" cy="52210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/>
          <p:cNvSpPr/>
          <p:nvPr/>
        </p:nvSpPr>
        <p:spPr>
          <a:xfrm>
            <a:off x="0" y="0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/>
        </p:nvSpPr>
        <p:spPr>
          <a:xfrm rot="10800000">
            <a:off x="6007510" y="3527324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Half Frame 9"/>
          <p:cNvSpPr/>
          <p:nvPr/>
        </p:nvSpPr>
        <p:spPr>
          <a:xfrm rot="5400000">
            <a:off x="7431344" y="-1240093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 rot="16200000">
            <a:off x="1291095" y="2059856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3965" y="1746284"/>
            <a:ext cx="5614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8.Product Performance: Top Products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3965" y="2419350"/>
            <a:ext cx="509311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Top 10 Products by Sales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Canon image CLASS 2200 Advanced Copier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the top seller.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top products belong to the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category.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Focus inventory and promotions on these high‑performing products.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880" y="1327355"/>
            <a:ext cx="6169740" cy="50537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/>
          <p:cNvSpPr/>
          <p:nvPr/>
        </p:nvSpPr>
        <p:spPr>
          <a:xfrm>
            <a:off x="0" y="0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/>
        </p:nvSpPr>
        <p:spPr>
          <a:xfrm rot="10800000">
            <a:off x="6007510" y="3527324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Half Frame 9"/>
          <p:cNvSpPr/>
          <p:nvPr/>
        </p:nvSpPr>
        <p:spPr>
          <a:xfrm rot="5400000">
            <a:off x="7431344" y="-1240093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 rot="16200000">
            <a:off x="1291095" y="2059856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91614" y="1421282"/>
            <a:ext cx="5781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9.Category &amp; Sub‑Category Performance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1612" y="1970747"/>
            <a:ext cx="54274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Category &amp; Sub‑Category Analysis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category leads with over 40% of total sales.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Chairs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are the top sub‑categories.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Investing in Technology could drive further growth.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1268364"/>
            <a:ext cx="5818053" cy="26805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490" y="3977076"/>
            <a:ext cx="5729560" cy="26646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/>
          <p:cNvSpPr/>
          <p:nvPr/>
        </p:nvSpPr>
        <p:spPr>
          <a:xfrm>
            <a:off x="0" y="0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/>
        </p:nvSpPr>
        <p:spPr>
          <a:xfrm rot="10800000">
            <a:off x="6007510" y="3527324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Half Frame 9"/>
          <p:cNvSpPr/>
          <p:nvPr/>
        </p:nvSpPr>
        <p:spPr>
          <a:xfrm rot="5400000">
            <a:off x="7431344" y="-1240093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 rot="16200000">
            <a:off x="1291095" y="2059856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3626" y="1306145"/>
            <a:ext cx="56338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10.Additional Insights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3624" y="1970747"/>
            <a:ext cx="457199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Year‑over‑Year &amp; Heatmap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grew each year (2015 → 2016 → 2017).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 confirms strong Q4 performance every year.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 upward trend is consistent; Q4 should be prioritized for resource allocation.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910" y="1332510"/>
            <a:ext cx="6546869" cy="218805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910" y="3546931"/>
            <a:ext cx="6546869" cy="31549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/>
          <p:cNvSpPr/>
          <p:nvPr/>
        </p:nvSpPr>
        <p:spPr>
          <a:xfrm>
            <a:off x="0" y="0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/>
        </p:nvSpPr>
        <p:spPr>
          <a:xfrm rot="10800000">
            <a:off x="6007510" y="3527324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Half Frame 9"/>
          <p:cNvSpPr/>
          <p:nvPr/>
        </p:nvSpPr>
        <p:spPr>
          <a:xfrm rot="5400000">
            <a:off x="7431344" y="-1240093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 rot="16200000">
            <a:off x="1291095" y="2059856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7869" y="1440256"/>
            <a:ext cx="5122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11.Conclusion &amp; Recommendations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66615" y="2095756"/>
            <a:ext cx="60075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Stock up on top products before Q4.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Promotions: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Run campaigns in low‑sales months (Jan, Feb) to smooth revenue.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focus: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Expand Technology category offerings.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Review profit margins to ensure high‑revenue items are also profitable.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7698" y="1911270"/>
            <a:ext cx="476864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have grown steadily, driven by Q4 holiday demand.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products (especially phones and copiers) are the revenue drivers.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Weekdays show no major variation; monthly peaks are in Nov/Dec.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/>
          <p:cNvSpPr/>
          <p:nvPr/>
        </p:nvSpPr>
        <p:spPr>
          <a:xfrm>
            <a:off x="0" y="0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/>
        </p:nvSpPr>
        <p:spPr>
          <a:xfrm rot="10800000">
            <a:off x="6007510" y="3527324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Half Frame 9"/>
          <p:cNvSpPr/>
          <p:nvPr/>
        </p:nvSpPr>
        <p:spPr>
          <a:xfrm rot="5400000">
            <a:off x="7431344" y="-1240093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 rot="16200000">
            <a:off x="1291095" y="2059856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75143" y="2638333"/>
            <a:ext cx="886473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THANK YOU!</a:t>
            </a:r>
            <a:endParaRPr lang="en-US" sz="9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3021</Words>
  <Application>WPS Presentation</Application>
  <PresentationFormat>Widescreen</PresentationFormat>
  <Paragraphs>161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Arial Black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kumar</dc:creator>
  <cp:lastModifiedBy>randh</cp:lastModifiedBy>
  <cp:revision>4</cp:revision>
  <dcterms:created xsi:type="dcterms:W3CDTF">2026-03-24T12:46:00Z</dcterms:created>
  <dcterms:modified xsi:type="dcterms:W3CDTF">2026-06-01T12:28:34Z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18A25B761156492E8FC91AE7A2BD2019_13</vt:lpwstr>
  </property>
  <property fmtid="{D5CDD505-2E9C-101B-9397-08002B2CF9AE}" pid="3" name="KSOProductBuildVer">
    <vt:lpwstr>1033-12.1.0.26880</vt:lpwstr>
  </property>
</Properties>
</file>